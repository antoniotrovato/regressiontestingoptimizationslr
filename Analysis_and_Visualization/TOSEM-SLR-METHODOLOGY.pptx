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CB3239-21EE-4D91-AF84-785377B77AD3}" v="3" dt="2026-01-15T10:14:41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554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01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406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39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345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48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536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811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510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56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818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BAF8C-EB99-4792-B03A-5A5A0319870C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4E7EB-66D1-4C51-B8FB-08FAC7A8A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41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F2427B-FA81-B748-0BDD-55C0ACEAFDCE}"/>
              </a:ext>
            </a:extLst>
          </p:cNvPr>
          <p:cNvSpPr/>
          <p:nvPr/>
        </p:nvSpPr>
        <p:spPr>
          <a:xfrm>
            <a:off x="0" y="-1"/>
            <a:ext cx="3818467" cy="1820333"/>
          </a:xfrm>
          <a:prstGeom prst="roundRect">
            <a:avLst>
              <a:gd name="adj" fmla="val 9421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it-IT" sz="2000" b="1" dirty="0">
                <a:latin typeface="Aptos Narrow" panose="020B0004020202020204" pitchFamily="34" charset="0"/>
              </a:rPr>
              <a:t>1. Planning &amp; Scope Definition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latin typeface="Aptos Narrow" panose="020B0004020202020204" pitchFamily="34" charset="0"/>
              </a:rPr>
              <a:t>Apply </a:t>
            </a:r>
            <a:r>
              <a:rPr lang="en-GB" sz="1600" b="1" dirty="0">
                <a:latin typeface="Aptos Narrow" panose="020B0004020202020204" pitchFamily="34" charset="0"/>
              </a:rPr>
              <a:t>3PDF</a:t>
            </a:r>
            <a:r>
              <a:rPr lang="en-GB" sz="1600" dirty="0">
                <a:latin typeface="Aptos Narrow" panose="020B0004020202020204" pitchFamily="34" charset="0"/>
              </a:rPr>
              <a:t> Framework to justify updating Yoo &amp; Harman (2012)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latin typeface="Aptos Narrow" panose="020B0004020202020204" pitchFamily="34" charset="0"/>
              </a:rPr>
              <a:t>Define </a:t>
            </a:r>
            <a:r>
              <a:rPr lang="en-GB" sz="1600" b="1" dirty="0">
                <a:latin typeface="Aptos Narrow" panose="020B0004020202020204" pitchFamily="34" charset="0"/>
              </a:rPr>
              <a:t>SLR Goals </a:t>
            </a:r>
            <a:r>
              <a:rPr lang="en-GB" sz="1600" dirty="0">
                <a:latin typeface="Aptos Narrow" panose="020B0004020202020204" pitchFamily="34" charset="0"/>
              </a:rPr>
              <a:t>and </a:t>
            </a:r>
            <a:r>
              <a:rPr lang="en-GB" sz="1600" b="1" dirty="0">
                <a:latin typeface="Aptos Narrow" panose="020B0004020202020204" pitchFamily="34" charset="0"/>
              </a:rPr>
              <a:t>RQs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endParaRPr lang="en-GB" sz="1600" dirty="0">
              <a:latin typeface="Aptos Narrow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69583C-7A2B-0F80-1E01-C65E67DB90D3}"/>
              </a:ext>
            </a:extLst>
          </p:cNvPr>
          <p:cNvSpPr/>
          <p:nvPr/>
        </p:nvSpPr>
        <p:spPr>
          <a:xfrm>
            <a:off x="4169833" y="-1"/>
            <a:ext cx="3818467" cy="1820333"/>
          </a:xfrm>
          <a:prstGeom prst="roundRect">
            <a:avLst>
              <a:gd name="adj" fmla="val 9421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it-IT" sz="2000" b="1" dirty="0">
                <a:latin typeface="Aptos Narrow" panose="020B0004020202020204" pitchFamily="34" charset="0"/>
              </a:rPr>
              <a:t>2. </a:t>
            </a:r>
            <a:r>
              <a:rPr lang="it-IT" sz="2000" b="1" dirty="0" err="1">
                <a:latin typeface="Aptos Narrow" panose="020B0004020202020204" pitchFamily="34" charset="0"/>
              </a:rPr>
              <a:t>Search</a:t>
            </a:r>
            <a:r>
              <a:rPr lang="it-IT" sz="2000" b="1" dirty="0">
                <a:latin typeface="Aptos Narrow" panose="020B0004020202020204" pitchFamily="34" charset="0"/>
              </a:rPr>
              <a:t> Strategy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 Narrow" panose="020B0004020202020204" pitchFamily="34" charset="0"/>
              </a:rPr>
              <a:t>Databases</a:t>
            </a:r>
            <a:r>
              <a:rPr lang="en-GB" sz="1600" dirty="0">
                <a:latin typeface="Aptos Narrow" panose="020B0004020202020204" pitchFamily="34" charset="0"/>
              </a:rPr>
              <a:t>: IEEE Xplore, ACM Digital Library, ScienceDirect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 Narrow" panose="020B0004020202020204" pitchFamily="34" charset="0"/>
              </a:rPr>
              <a:t>Time span</a:t>
            </a:r>
            <a:r>
              <a:rPr lang="en-GB" sz="1600" dirty="0">
                <a:latin typeface="Aptos Narrow" panose="020B0004020202020204" pitchFamily="34" charset="0"/>
              </a:rPr>
              <a:t>: 2013 – May 2025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endParaRPr lang="en-GB" sz="1600" b="1" dirty="0">
              <a:latin typeface="Aptos Narrow" panose="020B0004020202020204" pitchFamily="34" charset="0"/>
            </a:endParaRPr>
          </a:p>
          <a:p>
            <a:r>
              <a:rPr lang="en-GB" sz="1600" b="1" dirty="0">
                <a:latin typeface="Aptos Narrow" panose="020B0004020202020204" pitchFamily="34" charset="0"/>
              </a:rPr>
              <a:t>Output</a:t>
            </a:r>
            <a:r>
              <a:rPr lang="en-GB" sz="1600" dirty="0">
                <a:latin typeface="Aptos Narrow" panose="020B0004020202020204" pitchFamily="34" charset="0"/>
              </a:rPr>
              <a:t>: 499 papers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A57AC9-4F4E-8AFE-5F76-E139178818F6}"/>
              </a:ext>
            </a:extLst>
          </p:cNvPr>
          <p:cNvSpPr/>
          <p:nvPr/>
        </p:nvSpPr>
        <p:spPr>
          <a:xfrm>
            <a:off x="8373533" y="-1"/>
            <a:ext cx="3818467" cy="1820333"/>
          </a:xfrm>
          <a:prstGeom prst="roundRect">
            <a:avLst>
              <a:gd name="adj" fmla="val 9421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it-IT" sz="2000" b="1" dirty="0">
                <a:latin typeface="Aptos Narrow" panose="020B0004020202020204" pitchFamily="34" charset="0"/>
              </a:rPr>
              <a:t>3. Study </a:t>
            </a:r>
            <a:r>
              <a:rPr lang="it-IT" sz="2000" b="1" dirty="0" err="1">
                <a:latin typeface="Aptos Narrow" panose="020B0004020202020204" pitchFamily="34" charset="0"/>
              </a:rPr>
              <a:t>Selection</a:t>
            </a:r>
            <a:endParaRPr lang="it-IT" sz="2000" b="1" dirty="0">
              <a:latin typeface="Aptos Narrow" panose="020B0004020202020204" pitchFamily="34" charset="0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 Narrow" panose="020B0004020202020204" pitchFamily="34" charset="0"/>
              </a:rPr>
              <a:t>Inclusion</a:t>
            </a:r>
            <a:r>
              <a:rPr lang="en-GB" sz="1600" dirty="0">
                <a:latin typeface="Aptos Narrow" panose="020B0004020202020204" pitchFamily="34" charset="0"/>
              </a:rPr>
              <a:t>: Relevance to TSM, TCS, TCP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 Narrow" panose="020B0004020202020204" pitchFamily="34" charset="0"/>
              </a:rPr>
              <a:t>Exclusion</a:t>
            </a:r>
            <a:r>
              <a:rPr lang="en-GB" sz="1600" dirty="0">
                <a:latin typeface="Aptos Narrow" panose="020B0004020202020204" pitchFamily="34" charset="0"/>
              </a:rPr>
              <a:t>: language, accessibility, peer-review, length, duplicates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endParaRPr lang="en-GB" sz="1600" b="1" dirty="0">
              <a:latin typeface="Aptos Narrow" panose="020B0004020202020204" pitchFamily="34" charset="0"/>
            </a:endParaRPr>
          </a:p>
          <a:p>
            <a:r>
              <a:rPr lang="en-GB" sz="1600" b="1" dirty="0">
                <a:latin typeface="Aptos Narrow" panose="020B0004020202020204" pitchFamily="34" charset="0"/>
              </a:rPr>
              <a:t>Output</a:t>
            </a:r>
            <a:r>
              <a:rPr lang="en-GB" sz="1600" dirty="0">
                <a:latin typeface="Aptos Narrow" panose="020B0004020202020204" pitchFamily="34" charset="0"/>
              </a:rPr>
              <a:t>: 109 papers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EC28D1-9E06-6998-D771-21A192CEC4D2}"/>
              </a:ext>
            </a:extLst>
          </p:cNvPr>
          <p:cNvSpPr/>
          <p:nvPr/>
        </p:nvSpPr>
        <p:spPr>
          <a:xfrm>
            <a:off x="-1" y="2209799"/>
            <a:ext cx="3818467" cy="1820333"/>
          </a:xfrm>
          <a:prstGeom prst="roundRect">
            <a:avLst>
              <a:gd name="adj" fmla="val 9421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it-IT" sz="2000" b="1" dirty="0">
                <a:latin typeface="Aptos Narrow" panose="020B0004020202020204" pitchFamily="34" charset="0"/>
              </a:rPr>
              <a:t>4. </a:t>
            </a:r>
            <a:r>
              <a:rPr lang="it-IT" sz="2000" b="1" dirty="0" err="1">
                <a:latin typeface="Aptos Narrow" panose="020B0004020202020204" pitchFamily="34" charset="0"/>
              </a:rPr>
              <a:t>Snowballing</a:t>
            </a:r>
            <a:endParaRPr lang="it-IT" sz="2000" b="1" dirty="0">
              <a:latin typeface="Aptos Narrow" panose="020B0004020202020204" pitchFamily="34" charset="0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 Narrow" panose="020B0004020202020204" pitchFamily="34" charset="0"/>
              </a:rPr>
              <a:t>Backward </a:t>
            </a:r>
            <a:r>
              <a:rPr lang="en-GB" sz="1600" dirty="0">
                <a:latin typeface="Aptos Narrow" panose="020B0004020202020204" pitchFamily="34" charset="0"/>
              </a:rPr>
              <a:t>and </a:t>
            </a:r>
            <a:r>
              <a:rPr lang="en-GB" sz="1600" b="1" dirty="0">
                <a:latin typeface="Aptos Narrow" panose="020B0004020202020204" pitchFamily="34" charset="0"/>
              </a:rPr>
              <a:t>Forward </a:t>
            </a:r>
            <a:r>
              <a:rPr lang="en-GB" sz="1600" dirty="0">
                <a:latin typeface="Aptos Narrow" panose="020B0004020202020204" pitchFamily="34" charset="0"/>
              </a:rPr>
              <a:t>snowballing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latin typeface="Aptos Narrow" panose="020B0004020202020204" pitchFamily="34" charset="0"/>
              </a:rPr>
              <a:t>Deduplication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endParaRPr lang="en-GB" sz="1600" dirty="0">
              <a:latin typeface="Aptos Narrow" panose="020B0004020202020204" pitchFamily="34" charset="0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endParaRPr lang="en-GB" sz="1600" b="1" dirty="0">
              <a:latin typeface="Aptos Narrow" panose="020B0004020202020204" pitchFamily="34" charset="0"/>
            </a:endParaRPr>
          </a:p>
          <a:p>
            <a:r>
              <a:rPr lang="en-GB" sz="1600" b="1" dirty="0">
                <a:latin typeface="Aptos Narrow" panose="020B0004020202020204" pitchFamily="34" charset="0"/>
              </a:rPr>
              <a:t>Output</a:t>
            </a:r>
            <a:r>
              <a:rPr lang="en-GB" sz="1600" dirty="0">
                <a:latin typeface="Aptos Narrow" panose="020B0004020202020204" pitchFamily="34" charset="0"/>
              </a:rPr>
              <a:t>: 198 papers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741D8A-E0AF-56AE-BDA9-8C03E3511B98}"/>
              </a:ext>
            </a:extLst>
          </p:cNvPr>
          <p:cNvSpPr/>
          <p:nvPr/>
        </p:nvSpPr>
        <p:spPr>
          <a:xfrm>
            <a:off x="4169832" y="2209799"/>
            <a:ext cx="3818467" cy="1820333"/>
          </a:xfrm>
          <a:prstGeom prst="roundRect">
            <a:avLst>
              <a:gd name="adj" fmla="val 9421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it-IT" sz="2000" b="1" dirty="0">
                <a:latin typeface="Aptos Narrow" panose="020B0004020202020204" pitchFamily="34" charset="0"/>
              </a:rPr>
              <a:t>5. </a:t>
            </a:r>
            <a:r>
              <a:rPr lang="it-IT" sz="2000" b="1" dirty="0" err="1">
                <a:latin typeface="Aptos Narrow" panose="020B0004020202020204" pitchFamily="34" charset="0"/>
              </a:rPr>
              <a:t>Classification</a:t>
            </a:r>
            <a:endParaRPr lang="it-IT" sz="2000" b="1" dirty="0">
              <a:latin typeface="Aptos Narrow" panose="020B0004020202020204" pitchFamily="34" charset="0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latin typeface="Aptos Narrow" panose="020B0004020202020204" pitchFamily="34" charset="0"/>
              </a:rPr>
              <a:t>Classification into </a:t>
            </a:r>
            <a:r>
              <a:rPr lang="en-GB" sz="1600" b="1" dirty="0">
                <a:latin typeface="Aptos Narrow" panose="020B0004020202020204" pitchFamily="34" charset="0"/>
              </a:rPr>
              <a:t>SLR, Survey/Review, Primary Study</a:t>
            </a:r>
            <a:endParaRPr lang="en-GB" sz="1600" dirty="0">
              <a:latin typeface="Aptos Narrow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DF4B47-3402-ED3D-A936-94D4A167F8F4}"/>
              </a:ext>
            </a:extLst>
          </p:cNvPr>
          <p:cNvSpPr/>
          <p:nvPr/>
        </p:nvSpPr>
        <p:spPr>
          <a:xfrm>
            <a:off x="8373532" y="2209799"/>
            <a:ext cx="3818467" cy="1820333"/>
          </a:xfrm>
          <a:prstGeom prst="roundRect">
            <a:avLst>
              <a:gd name="adj" fmla="val 9421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it-IT" sz="2000" b="1" dirty="0">
                <a:latin typeface="Aptos Narrow" panose="020B0004020202020204" pitchFamily="34" charset="0"/>
              </a:rPr>
              <a:t>6. Quality </a:t>
            </a:r>
            <a:r>
              <a:rPr lang="it-IT" sz="2000" b="1" dirty="0" err="1">
                <a:latin typeface="Aptos Narrow" panose="020B0004020202020204" pitchFamily="34" charset="0"/>
              </a:rPr>
              <a:t>Appraisal</a:t>
            </a:r>
            <a:endParaRPr lang="it-IT" sz="2000" b="1" dirty="0">
              <a:latin typeface="Aptos Narrow" panose="020B0004020202020204" pitchFamily="34" charset="0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latin typeface="Aptos Narrow" panose="020B0004020202020204" pitchFamily="34" charset="0"/>
              </a:rPr>
              <a:t>Venue Quality</a:t>
            </a:r>
            <a:r>
              <a:rPr lang="en-GB" sz="1600" b="1" dirty="0">
                <a:latin typeface="Aptos Narrow" panose="020B0004020202020204" pitchFamily="34" charset="0"/>
              </a:rPr>
              <a:t> (IDQ) + </a:t>
            </a:r>
            <a:r>
              <a:rPr lang="en-GB" sz="1600" dirty="0">
                <a:latin typeface="Aptos Narrow" panose="020B0004020202020204" pitchFamily="34" charset="0"/>
              </a:rPr>
              <a:t>DARE-based assessment </a:t>
            </a:r>
            <a:r>
              <a:rPr lang="en-GB" sz="1600" b="1" dirty="0">
                <a:latin typeface="Aptos Narrow" panose="020B0004020202020204" pitchFamily="34" charset="0"/>
              </a:rPr>
              <a:t>(CDQ)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 Narrow" panose="020B0004020202020204" pitchFamily="34" charset="0"/>
              </a:rPr>
              <a:t>Threshold: FDQ </a:t>
            </a:r>
            <a:r>
              <a:rPr lang="en-GB" sz="1600" dirty="0">
                <a:latin typeface="Aptos Narrow" panose="020B0004020202020204" pitchFamily="34" charset="0"/>
              </a:rPr>
              <a:t>= mean(IDQ,CDQ) ≥ 0.6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endParaRPr lang="en-GB" sz="1600" b="1" dirty="0">
              <a:latin typeface="Aptos Narrow" panose="020B0004020202020204" pitchFamily="34" charset="0"/>
            </a:endParaRPr>
          </a:p>
          <a:p>
            <a:r>
              <a:rPr lang="en-GB" sz="1600" b="1" dirty="0">
                <a:latin typeface="Aptos Narrow" panose="020B0004020202020204" pitchFamily="34" charset="0"/>
              </a:rPr>
              <a:t>Output: </a:t>
            </a:r>
            <a:r>
              <a:rPr lang="en-GB" sz="1600" dirty="0">
                <a:latin typeface="Aptos Narrow" panose="020B0004020202020204" pitchFamily="34" charset="0"/>
              </a:rPr>
              <a:t>121 high-quality papers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87051D-95F3-DCB3-1CB7-B52398CA61AF}"/>
              </a:ext>
            </a:extLst>
          </p:cNvPr>
          <p:cNvSpPr/>
          <p:nvPr/>
        </p:nvSpPr>
        <p:spPr>
          <a:xfrm>
            <a:off x="0" y="4419600"/>
            <a:ext cx="3818467" cy="1447801"/>
          </a:xfrm>
          <a:prstGeom prst="roundRect">
            <a:avLst>
              <a:gd name="adj" fmla="val 9421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it-IT" sz="2000" b="1" dirty="0">
                <a:latin typeface="Aptos Narrow" panose="020B0004020202020204" pitchFamily="34" charset="0"/>
              </a:rPr>
              <a:t>7. Data </a:t>
            </a:r>
            <a:r>
              <a:rPr lang="it-IT" sz="2000" b="1" dirty="0" err="1">
                <a:latin typeface="Aptos Narrow" panose="020B0004020202020204" pitchFamily="34" charset="0"/>
              </a:rPr>
              <a:t>Extraction</a:t>
            </a:r>
            <a:endParaRPr lang="it-IT" sz="2000" b="1" dirty="0">
              <a:latin typeface="Aptos Narrow" panose="020B0004020202020204" pitchFamily="34" charset="0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 Narrow" panose="020B0004020202020204" pitchFamily="34" charset="0"/>
              </a:rPr>
              <a:t>RQ1: </a:t>
            </a:r>
            <a:r>
              <a:rPr lang="en-GB" sz="1600" dirty="0">
                <a:latin typeface="Aptos Narrow" panose="020B0004020202020204" pitchFamily="34" charset="0"/>
              </a:rPr>
              <a:t>publication trends, reproducibility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 Narrow" panose="020B0004020202020204" pitchFamily="34" charset="0"/>
              </a:rPr>
              <a:t>RQ2: </a:t>
            </a:r>
            <a:r>
              <a:rPr lang="en-GB" sz="1600" dirty="0">
                <a:latin typeface="Aptos Narrow" panose="020B0004020202020204" pitchFamily="34" charset="0"/>
              </a:rPr>
              <a:t>Taxonomy, Algorithms, Metrics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b="1" dirty="0">
                <a:latin typeface="Aptos Narrow" panose="020B0004020202020204" pitchFamily="34" charset="0"/>
              </a:rPr>
              <a:t>RQ3: </a:t>
            </a:r>
            <a:r>
              <a:rPr lang="en-GB" sz="1600" dirty="0">
                <a:latin typeface="Aptos Narrow" panose="020B0004020202020204" pitchFamily="34" charset="0"/>
              </a:rPr>
              <a:t>Datasets/SUTs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E54E68-25E2-B5D5-27A6-86350B62CCE6}"/>
              </a:ext>
            </a:extLst>
          </p:cNvPr>
          <p:cNvSpPr/>
          <p:nvPr/>
        </p:nvSpPr>
        <p:spPr>
          <a:xfrm>
            <a:off x="4169832" y="4419600"/>
            <a:ext cx="3818467" cy="1447801"/>
          </a:xfrm>
          <a:prstGeom prst="roundRect">
            <a:avLst>
              <a:gd name="adj" fmla="val 9421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it-IT" sz="2000" b="1" dirty="0">
                <a:latin typeface="Aptos Narrow" panose="020B0004020202020204" pitchFamily="34" charset="0"/>
              </a:rPr>
              <a:t>8. Data </a:t>
            </a:r>
            <a:r>
              <a:rPr lang="it-IT" sz="2000" b="1" dirty="0" err="1">
                <a:latin typeface="Aptos Narrow" panose="020B0004020202020204" pitchFamily="34" charset="0"/>
              </a:rPr>
              <a:t>Synthesis</a:t>
            </a:r>
            <a:endParaRPr lang="it-IT" sz="2000" b="1" dirty="0">
              <a:latin typeface="Aptos Narrow" panose="020B0004020202020204" pitchFamily="34" charset="0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latin typeface="Aptos Narrow" panose="020B0004020202020204" pitchFamily="34" charset="0"/>
              </a:rPr>
              <a:t>Coding, aggregation, comparative analysis, gap identification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828F2B-6FC2-082F-7AFA-68E9BF1B710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818467" y="910166"/>
            <a:ext cx="35136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F494C3B-392D-D0BE-8557-42A048D84502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5901267" y="-2171702"/>
            <a:ext cx="389467" cy="8373534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E34FD6D-C104-2E11-4387-86F91C5911F0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5400000">
            <a:off x="5901266" y="38100"/>
            <a:ext cx="389468" cy="837353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CD28B0-7C88-D091-1599-0F442FA5454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3818466" y="3119966"/>
            <a:ext cx="35136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1DEB747-6343-A096-132B-4EB9376F657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3818467" y="5143501"/>
            <a:ext cx="35136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CF1CF7C-DFCA-DE49-455D-1C83528DEE93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7988299" y="3119966"/>
            <a:ext cx="38523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2539105-3223-BC6A-6E26-BE1E266CE33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988300" y="910166"/>
            <a:ext cx="38523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23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168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Luigi LIbero Lucio Starace</dc:creator>
  <cp:lastModifiedBy>Luigi LIbero Lucio Starace</cp:lastModifiedBy>
  <cp:revision>2</cp:revision>
  <dcterms:created xsi:type="dcterms:W3CDTF">2026-01-15T09:10:36Z</dcterms:created>
  <dcterms:modified xsi:type="dcterms:W3CDTF">2026-01-15T10:16:16Z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2026-01-15T10:10:01Z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3de49f89-21d8-4536-ba0c-0a5716666a59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